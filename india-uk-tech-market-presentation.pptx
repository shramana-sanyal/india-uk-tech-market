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rts/style2.xml" ContentType="application/vnd.ms-office.chartstyl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olors2.xml" ContentType="application/vnd.ms-office.chartcolorstyle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presProps" Target="presProps.xml"/>
</Relationships>
</file>

<file path=ppt/charts/_rels/chart1.xml.rels><?xml version="1.0" encoding="UTF-8"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
</Relationships>
</file>

<file path=ppt/charts/_rels/chart2.xml.rels><?xml version="1.0" encoding="UTF-8"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India</c:v>
                </c:pt>
              </c:strCache>
            </c:strRef>
          </c:tx>
          <c:spPr>
            <a:solidFill>
              <a:srgbClr val="E07A5F"/>
            </a:solidFill>
            <a:ln w="0">
              <a:noFill/>
            </a:ln>
          </c:spPr>
          <c:invertIfNegative val="0"/>
          <c:dLbls>
            <c:numFmt formatCode="#,##0" sourceLinked="0"/>
            <c:txPr>
              <a:bodyPr wrap="square"/>
              <a:lstStyle/>
              <a:p>
                <a:pPr>
                  <a:defRPr sz="1000" b="0" u="none" strike="noStrike">
                    <a:solidFill>
                      <a:srgbClr val="2B2B2B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5"/>
                <c:pt idx="0">
                  <c:v>JavaScript</c:v>
                </c:pt>
                <c:pt idx="1">
                  <c:v>HTML/CSS</c:v>
                </c:pt>
                <c:pt idx="2">
                  <c:v>SQL</c:v>
                </c:pt>
                <c:pt idx="3">
                  <c:v>Python</c:v>
                </c:pt>
                <c:pt idx="4">
                  <c:v>TypeScript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5"/>
                <c:pt idx="0">
                  <c:v>69</c:v>
                </c:pt>
                <c:pt idx="1">
                  <c:v>59</c:v>
                </c:pt>
                <c:pt idx="2">
                  <c:v>56</c:v>
                </c:pt>
                <c:pt idx="3">
                  <c:v>54</c:v>
                </c:pt>
                <c:pt idx="4">
                  <c:v>43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UK</c:v>
                </c:pt>
              </c:strCache>
            </c:strRef>
          </c:tx>
          <c:spPr>
            <a:solidFill>
              <a:srgbClr val="3D5A80"/>
            </a:solidFill>
            <a:ln w="0">
              <a:noFill/>
            </a:ln>
          </c:spPr>
          <c:invertIfNegative val="0"/>
          <c:dLbls>
            <c:numFmt formatCode="#,##0" sourceLinked="0"/>
            <c:txPr>
              <a:bodyPr wrap="square"/>
              <a:lstStyle/>
              <a:p>
                <a:pPr>
                  <a:defRPr sz="1000" b="0" u="none" strike="noStrike">
                    <a:solidFill>
                      <a:srgbClr val="2B2B2B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5"/>
                <c:pt idx="0">
                  <c:v>JavaScript</c:v>
                </c:pt>
                <c:pt idx="1">
                  <c:v>HTML/CSS</c:v>
                </c:pt>
                <c:pt idx="2">
                  <c:v>SQL</c:v>
                </c:pt>
                <c:pt idx="3">
                  <c:v>Python</c:v>
                </c:pt>
                <c:pt idx="4">
                  <c:v>TypeScript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5"/>
                <c:pt idx="0">
                  <c:v>67</c:v>
                </c:pt>
                <c:pt idx="1">
                  <c:v>62</c:v>
                </c:pt>
                <c:pt idx="2">
                  <c:v>61</c:v>
                </c:pt>
                <c:pt idx="3">
                  <c:v>54</c:v>
                </c:pt>
                <c:pt idx="4">
                  <c:v>42</c:v>
                </c:pt>
              </c:numCache>
            </c:numRef>
          </c:val>
        </c:ser>
        <c:gapWidth val="150"/>
        <c:overlap val="0"/>
        <c:axId val="82408108"/>
        <c:axId val="95323538"/>
      </c:barChart>
      <c:catAx>
        <c:axId val="8240810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100" b="0" u="none" strike="noStrike">
                <a:solidFill>
                  <a:srgbClr val="2B2B2B"/>
                </a:solidFill>
                <a:uFillTx/>
                <a:latin typeface="Arial"/>
              </a:defRPr>
            </a:pPr>
          </a:p>
        </c:txPr>
        <c:crossAx val="95323538"/>
        <c:crosses val="autoZero"/>
        <c:auto val="1"/>
        <c:lblAlgn val="ctr"/>
        <c:lblOffset val="100"/>
        <c:noMultiLvlLbl val="0"/>
      </c:catAx>
      <c:valAx>
        <c:axId val="95323538"/>
        <c:scaling>
          <c:orientation val="minMax"/>
          <c:max val="80"/>
        </c:scaling>
        <c:delete val="0"/>
        <c:axPos val="l"/>
        <c:majorGridlines>
          <c:spPr>
            <a:ln w="12600">
              <a:solidFill>
                <a:srgbClr val="E3E3E0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000" b="0" u="none" strike="noStrike">
                <a:solidFill>
                  <a:srgbClr val="6B7280"/>
                </a:solidFill>
                <a:uFillTx/>
                <a:latin typeface="Arial"/>
              </a:defRPr>
            </a:pPr>
          </a:p>
        </c:txPr>
        <c:crossAx val="82408108"/>
        <c:crosses val="autoZero"/>
        <c:crossBetween val="between"/>
      </c:valAx>
      <c:spPr>
        <a:noFill/>
        <a:ln w="0">
          <a:noFill/>
        </a:ln>
      </c:spPr>
    </c:plotArea>
    <c:legend>
      <c:legendPos val="t"/>
      <c:overlay val="0"/>
      <c:spPr>
        <a:noFill/>
        <a:ln w="0">
          <a:noFill/>
        </a:ln>
      </c:spPr>
      <c:txPr>
        <a:bodyPr/>
        <a:lstStyle/>
        <a:p>
          <a:pPr>
            <a:defRPr sz="1200" b="0" u="none" strike="noStrike">
              <a:solidFill>
                <a:srgbClr val="000000"/>
              </a:solidFill>
              <a:uFillTx/>
              <a:latin typeface="Calibri"/>
            </a:defRPr>
          </a:pPr>
        </a:p>
      </c:txPr>
    </c:legend>
    <c:plotVisOnly val="1"/>
    <c:dispBlanksAs val="span"/>
  </c:chart>
  <c:spPr>
    <a:noFill/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India</c:v>
                </c:pt>
              </c:strCache>
            </c:strRef>
          </c:tx>
          <c:spPr>
            <a:solidFill>
              <a:srgbClr val="E07A5F"/>
            </a:solidFill>
            <a:ln w="0">
              <a:noFill/>
            </a:ln>
          </c:spPr>
          <c:invertIfNegative val="0"/>
          <c:dLbls>
            <c:txPr>
              <a:bodyPr wrap="square"/>
              <a:lstStyle/>
              <a:p>
                <a:pPr>
                  <a:defRPr sz="12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5"/>
                <c:pt idx="0">
                  <c:v>0-3 yrs</c:v>
                </c:pt>
                <c:pt idx="1">
                  <c:v>4-6 yrs</c:v>
                </c:pt>
                <c:pt idx="2">
                  <c:v>7-10 yrs</c:v>
                </c:pt>
                <c:pt idx="3">
                  <c:v>11-20 yrs</c:v>
                </c:pt>
                <c:pt idx="4">
                  <c:v>20+ yrs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5"/>
                <c:pt idx="0">
                  <c:v>8137</c:v>
                </c:pt>
                <c:pt idx="1">
                  <c:v>15111</c:v>
                </c:pt>
                <c:pt idx="2">
                  <c:v>30222</c:v>
                </c:pt>
                <c:pt idx="3">
                  <c:v>44462</c:v>
                </c:pt>
                <c:pt idx="4">
                  <c:v>47658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UK</c:v>
                </c:pt>
              </c:strCache>
            </c:strRef>
          </c:tx>
          <c:spPr>
            <a:solidFill>
              <a:srgbClr val="3D5A80"/>
            </a:solidFill>
            <a:ln w="0">
              <a:noFill/>
            </a:ln>
          </c:spPr>
          <c:invertIfNegative val="0"/>
          <c:dLbls>
            <c:txPr>
              <a:bodyPr wrap="square"/>
              <a:lstStyle/>
              <a:p>
                <a:pPr>
                  <a:defRPr sz="12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5"/>
                <c:pt idx="0">
                  <c:v>0-3 yrs</c:v>
                </c:pt>
                <c:pt idx="1">
                  <c:v>4-6 yrs</c:v>
                </c:pt>
                <c:pt idx="2">
                  <c:v>7-10 yrs</c:v>
                </c:pt>
                <c:pt idx="3">
                  <c:v>11-20 yrs</c:v>
                </c:pt>
                <c:pt idx="4">
                  <c:v>20+ yrs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5"/>
                <c:pt idx="0">
                  <c:v>50890</c:v>
                </c:pt>
                <c:pt idx="1">
                  <c:v>73516</c:v>
                </c:pt>
                <c:pt idx="2">
                  <c:v>91215</c:v>
                </c:pt>
                <c:pt idx="3">
                  <c:v>108913</c:v>
                </c:pt>
                <c:pt idx="4">
                  <c:v>108913</c:v>
                </c:pt>
              </c:numCache>
            </c:numRef>
          </c:val>
        </c:ser>
        <c:gapWidth val="150"/>
        <c:overlap val="0"/>
        <c:axId val="98412356"/>
        <c:axId val="27197162"/>
      </c:barChart>
      <c:catAx>
        <c:axId val="9841235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100" b="0" u="none" strike="noStrike">
                <a:solidFill>
                  <a:srgbClr val="2B2B2B"/>
                </a:solidFill>
                <a:uFillTx/>
                <a:latin typeface="Arial"/>
              </a:defRPr>
            </a:pPr>
          </a:p>
        </c:txPr>
        <c:crossAx val="27197162"/>
        <c:crosses val="autoZero"/>
        <c:auto val="1"/>
        <c:lblAlgn val="ctr"/>
        <c:lblOffset val="100"/>
        <c:noMultiLvlLbl val="0"/>
      </c:catAx>
      <c:valAx>
        <c:axId val="27197162"/>
        <c:scaling>
          <c:orientation val="minMax"/>
        </c:scaling>
        <c:delete val="0"/>
        <c:axPos val="l"/>
        <c:majorGridlines>
          <c:spPr>
            <a:ln w="12600">
              <a:solidFill>
                <a:srgbClr val="E3E3E0"/>
              </a:solidFill>
              <a:round/>
            </a:ln>
          </c:spPr>
        </c:majorGridlines>
        <c:numFmt formatCode="\$#,##0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000" b="0" u="none" strike="noStrike">
                <a:solidFill>
                  <a:srgbClr val="6B7280"/>
                </a:solidFill>
                <a:uFillTx/>
                <a:latin typeface="Arial"/>
              </a:defRPr>
            </a:pPr>
          </a:p>
        </c:txPr>
        <c:crossAx val="98412356"/>
        <c:crosses val="autoZero"/>
        <c:crossBetween val="between"/>
      </c:valAx>
      <c:spPr>
        <a:noFill/>
        <a:ln w="0">
          <a:noFill/>
        </a:ln>
      </c:spPr>
    </c:plotArea>
    <c:legend>
      <c:legendPos val="t"/>
      <c:overlay val="0"/>
      <c:spPr>
        <a:noFill/>
        <a:ln w="0">
          <a:noFill/>
        </a:ln>
      </c:spPr>
      <c:txPr>
        <a:bodyPr/>
        <a:lstStyle/>
        <a:p>
          <a:pPr>
            <a:defRPr sz="1200" b="0" u="none" strike="noStrike">
              <a:solidFill>
                <a:srgbClr val="000000"/>
              </a:solidFill>
              <a:uFillTx/>
              <a:latin typeface="Calibri"/>
            </a:defRPr>
          </a:pPr>
        </a:p>
      </c:txPr>
    </c:legend>
    <c:plotVisOnly val="1"/>
    <c:dispBlanksAs val="span"/>
  </c:chart>
  <c:spPr>
    <a:noFill/>
    <a:ln w="0">
      <a:noFill/>
    </a:ln>
  </c:spPr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419">
  <cs:axisTitle>
    <cs:lnRef idx="0"/>
    <cs:lineWidthScale>1</cs:lineWidthScale>
    <cs:fillRef idx="0"/>
    <cs:effectRef idx="0"/>
    <cs:fontRef idx="minor"/>
    <a:defRPr sz="1800" b="0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charts/style2.xml><?xml version="1.0" encoding="utf-8"?>
<cs:chartStyle xmlns:cs="http://schemas.microsoft.com/office/drawing/2012/chartStyle" xmlns:a="http://schemas.openxmlformats.org/drawingml/2006/main" id="419">
  <cs:axisTitle>
    <cs:lnRef idx="0"/>
    <cs:lineWidthScale>1</cs:lineWidthScale>
    <cs:fillRef idx="0"/>
    <cs:effectRef idx="0"/>
    <cs:fontRef idx="minor"/>
    <a:defRPr sz="1800" b="0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8CB12D80-4AC2-4514-9FE6-382614A1B47C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Data Analyst Capstone. Comparing the Indian and UK tech markets using the Stack Overflow Developer Survey 2025.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2667649-3309-49AA-8D09-F1E5C566702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D488AC8-521A-49C3-9E20-A21EED7AE7C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This slide stands alone — someone reading only this should get the whole picture.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02F84E0-0362-486D-96DC-9895AF6C262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B2D83BC-9A71-4DFF-AB98-DC5481BEEAC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 API or scraping — the survey is published as a single file, so collection was a direct download.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A1387B7-91FF-4145-A529-925BDF5A3A9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495BEAB-E2C2-4A5A-8AF7-6CFDDC4F3C9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C31B269-CF50-4A59-85AD-5E1758F102B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Median UK experience is 15 years against 6 in India. The headline number compared a mid-career Indian respondent to a senior UK one.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71450EF-480B-4DE0-9E03-58160C91F2C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Salary and experience gaps are obviously real, so testing them would show nothing. AI use was genuinely uncertain, so that is what I tested.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7AF7BEE-2447-4124-8D2F-DBEB5AB87E2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ADD A SCREENSHOT of the dashboard on this slide if you want it to show visually — open the xlsx, screenshot the Dashboard sheet, and drop it in.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F2CC089-8177-41F7-A1D9-91D16774391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F65769D-534A-4BC1-8DB2-C5AB3E04A27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4D719E1-BEB7-4C2A-966D-7562A69D48C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009D15A-8FD4-43A8-9AF5-A687AFD2BC7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2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0"/>
          <p:cNvSpPr/>
          <p:nvPr/>
        </p:nvSpPr>
        <p:spPr>
          <a:xfrm>
            <a:off x="822960" y="1828800"/>
            <a:ext cx="1051488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India vs UK Tech Market</a:t>
            </a:r>
            <a:endParaRPr lang="en-US" sz="4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1"/>
          <p:cNvSpPr/>
          <p:nvPr/>
        </p:nvSpPr>
        <p:spPr>
          <a:xfrm>
            <a:off x="822960" y="2788920"/>
            <a:ext cx="10514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rgbClr val="E07A5F"/>
                </a:solidFill>
                <a:effectLst/>
                <a:uFillTx/>
                <a:latin typeface="Calibri"/>
                <a:ea typeface="Calibri"/>
              </a:rPr>
              <a:t>A comparison of skills, tools, pay and experience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2"/>
          <p:cNvSpPr/>
          <p:nvPr/>
        </p:nvSpPr>
        <p:spPr>
          <a:xfrm>
            <a:off x="822960" y="3520440"/>
            <a:ext cx="1096560" cy="36000"/>
          </a:xfrm>
          <a:prstGeom prst="rect">
            <a:avLst/>
          </a:prstGeom>
          <a:solidFill>
            <a:srgbClr val="E07A5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8280" rIns="90000" bIns="-8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3"/>
          <p:cNvSpPr/>
          <p:nvPr/>
        </p:nvSpPr>
        <p:spPr>
          <a:xfrm>
            <a:off x="822960" y="3886200"/>
            <a:ext cx="105148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Shramana Sanyal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4"/>
          <p:cNvSpPr/>
          <p:nvPr/>
        </p:nvSpPr>
        <p:spPr>
          <a:xfrm>
            <a:off x="822960" y="4316040"/>
            <a:ext cx="10514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25 September 2026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5"/>
          <p:cNvSpPr/>
          <p:nvPr/>
        </p:nvSpPr>
        <p:spPr>
          <a:xfrm>
            <a:off x="822960" y="5120640"/>
            <a:ext cx="10514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Stack Overflow Developer Survey 2025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0"/>
          <p:cNvSpPr/>
          <p:nvPr/>
        </p:nvSpPr>
        <p:spPr>
          <a:xfrm>
            <a:off x="640080" y="411480"/>
            <a:ext cx="1088064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1E2A38"/>
                </a:solidFill>
                <a:effectLst/>
                <a:uFillTx/>
                <a:latin typeface="Cambria"/>
                <a:ea typeface="Cambria"/>
              </a:rPr>
              <a:t>Outline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1"/>
          <p:cNvSpPr/>
          <p:nvPr/>
        </p:nvSpPr>
        <p:spPr>
          <a:xfrm>
            <a:off x="822960" y="1554480"/>
            <a:ext cx="401760" cy="401760"/>
          </a:xfrm>
          <a:prstGeom prst="ellipse">
            <a:avLst/>
          </a:prstGeom>
          <a:solidFill>
            <a:srgbClr val="E07A5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2"/>
          <p:cNvSpPr/>
          <p:nvPr/>
        </p:nvSpPr>
        <p:spPr>
          <a:xfrm>
            <a:off x="822960" y="1554480"/>
            <a:ext cx="40176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3"/>
          <p:cNvSpPr/>
          <p:nvPr/>
        </p:nvSpPr>
        <p:spPr>
          <a:xfrm>
            <a:off x="1417320" y="1572840"/>
            <a:ext cx="447984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E2A38"/>
                </a:solidFill>
                <a:effectLst/>
                <a:uFillTx/>
                <a:latin typeface="Cambria"/>
                <a:ea typeface="Cambria"/>
              </a:rPr>
              <a:t>Executive Summary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4"/>
          <p:cNvSpPr/>
          <p:nvPr/>
        </p:nvSpPr>
        <p:spPr>
          <a:xfrm>
            <a:off x="822960" y="2395800"/>
            <a:ext cx="401760" cy="401760"/>
          </a:xfrm>
          <a:prstGeom prst="ellipse">
            <a:avLst/>
          </a:prstGeom>
          <a:solidFill>
            <a:srgbClr val="3D5A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5"/>
          <p:cNvSpPr/>
          <p:nvPr/>
        </p:nvSpPr>
        <p:spPr>
          <a:xfrm>
            <a:off x="822960" y="2395800"/>
            <a:ext cx="40176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6"/>
          <p:cNvSpPr/>
          <p:nvPr/>
        </p:nvSpPr>
        <p:spPr>
          <a:xfrm>
            <a:off x="1417320" y="2414160"/>
            <a:ext cx="447984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E2A38"/>
                </a:solidFill>
                <a:effectLst/>
                <a:uFillTx/>
                <a:latin typeface="Cambria"/>
                <a:ea typeface="Cambria"/>
              </a:rPr>
              <a:t>Introduction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7"/>
          <p:cNvSpPr/>
          <p:nvPr/>
        </p:nvSpPr>
        <p:spPr>
          <a:xfrm>
            <a:off x="822960" y="3237120"/>
            <a:ext cx="401760" cy="401760"/>
          </a:xfrm>
          <a:prstGeom prst="ellipse">
            <a:avLst/>
          </a:prstGeom>
          <a:solidFill>
            <a:srgbClr val="E07A5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8"/>
          <p:cNvSpPr/>
          <p:nvPr/>
        </p:nvSpPr>
        <p:spPr>
          <a:xfrm>
            <a:off x="822960" y="3237120"/>
            <a:ext cx="40176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9"/>
          <p:cNvSpPr/>
          <p:nvPr/>
        </p:nvSpPr>
        <p:spPr>
          <a:xfrm>
            <a:off x="1417320" y="3255120"/>
            <a:ext cx="447984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E2A38"/>
                </a:solidFill>
                <a:effectLst/>
                <a:uFillTx/>
                <a:latin typeface="Cambria"/>
                <a:ea typeface="Cambria"/>
              </a:rPr>
              <a:t>Methodology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10"/>
          <p:cNvSpPr/>
          <p:nvPr/>
        </p:nvSpPr>
        <p:spPr>
          <a:xfrm>
            <a:off x="822960" y="4078080"/>
            <a:ext cx="401760" cy="401760"/>
          </a:xfrm>
          <a:prstGeom prst="ellipse">
            <a:avLst/>
          </a:prstGeom>
          <a:solidFill>
            <a:srgbClr val="3D5A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11"/>
          <p:cNvSpPr/>
          <p:nvPr/>
        </p:nvSpPr>
        <p:spPr>
          <a:xfrm>
            <a:off x="822960" y="4078080"/>
            <a:ext cx="40176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12"/>
          <p:cNvSpPr/>
          <p:nvPr/>
        </p:nvSpPr>
        <p:spPr>
          <a:xfrm>
            <a:off x="1417320" y="4096440"/>
            <a:ext cx="447984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E2A38"/>
                </a:solidFill>
                <a:effectLst/>
                <a:uFillTx/>
                <a:latin typeface="Cambria"/>
                <a:ea typeface="Cambria"/>
              </a:rPr>
              <a:t>Results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13"/>
          <p:cNvSpPr/>
          <p:nvPr/>
        </p:nvSpPr>
        <p:spPr>
          <a:xfrm>
            <a:off x="822960" y="4919400"/>
            <a:ext cx="401760" cy="401760"/>
          </a:xfrm>
          <a:prstGeom prst="ellipse">
            <a:avLst/>
          </a:prstGeom>
          <a:solidFill>
            <a:srgbClr val="E07A5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14"/>
          <p:cNvSpPr/>
          <p:nvPr/>
        </p:nvSpPr>
        <p:spPr>
          <a:xfrm>
            <a:off x="822960" y="4919400"/>
            <a:ext cx="40176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15"/>
          <p:cNvSpPr/>
          <p:nvPr/>
        </p:nvSpPr>
        <p:spPr>
          <a:xfrm>
            <a:off x="1417320" y="4937760"/>
            <a:ext cx="447984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E2A38"/>
                </a:solidFill>
                <a:effectLst/>
                <a:uFillTx/>
                <a:latin typeface="Cambria"/>
                <a:ea typeface="Cambria"/>
              </a:rPr>
              <a:t>Visualisations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16"/>
          <p:cNvSpPr/>
          <p:nvPr/>
        </p:nvSpPr>
        <p:spPr>
          <a:xfrm>
            <a:off x="6309360" y="1554480"/>
            <a:ext cx="401760" cy="401760"/>
          </a:xfrm>
          <a:prstGeom prst="ellipse">
            <a:avLst/>
          </a:prstGeom>
          <a:solidFill>
            <a:srgbClr val="3D5A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17"/>
          <p:cNvSpPr/>
          <p:nvPr/>
        </p:nvSpPr>
        <p:spPr>
          <a:xfrm>
            <a:off x="6309360" y="1554480"/>
            <a:ext cx="40176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6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8"/>
          <p:cNvSpPr/>
          <p:nvPr/>
        </p:nvSpPr>
        <p:spPr>
          <a:xfrm>
            <a:off x="6903720" y="1572840"/>
            <a:ext cx="447984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E2A38"/>
                </a:solidFill>
                <a:effectLst/>
                <a:uFillTx/>
                <a:latin typeface="Cambria"/>
                <a:ea typeface="Cambria"/>
              </a:rPr>
              <a:t>Dashboard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19"/>
          <p:cNvSpPr/>
          <p:nvPr/>
        </p:nvSpPr>
        <p:spPr>
          <a:xfrm>
            <a:off x="6309360" y="2395800"/>
            <a:ext cx="401760" cy="401760"/>
          </a:xfrm>
          <a:prstGeom prst="ellipse">
            <a:avLst/>
          </a:prstGeom>
          <a:solidFill>
            <a:srgbClr val="E07A5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20"/>
          <p:cNvSpPr/>
          <p:nvPr/>
        </p:nvSpPr>
        <p:spPr>
          <a:xfrm>
            <a:off x="6309360" y="2395800"/>
            <a:ext cx="40176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7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21"/>
          <p:cNvSpPr/>
          <p:nvPr/>
        </p:nvSpPr>
        <p:spPr>
          <a:xfrm>
            <a:off x="6903720" y="2414160"/>
            <a:ext cx="447984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E2A38"/>
                </a:solidFill>
                <a:effectLst/>
                <a:uFillTx/>
                <a:latin typeface="Cambria"/>
                <a:ea typeface="Cambria"/>
              </a:rPr>
              <a:t>Findings &amp; Implications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22"/>
          <p:cNvSpPr/>
          <p:nvPr/>
        </p:nvSpPr>
        <p:spPr>
          <a:xfrm>
            <a:off x="6309360" y="3237120"/>
            <a:ext cx="401760" cy="401760"/>
          </a:xfrm>
          <a:prstGeom prst="ellipse">
            <a:avLst/>
          </a:prstGeom>
          <a:solidFill>
            <a:srgbClr val="3D5A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23"/>
          <p:cNvSpPr/>
          <p:nvPr/>
        </p:nvSpPr>
        <p:spPr>
          <a:xfrm>
            <a:off x="6309360" y="3237120"/>
            <a:ext cx="40176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8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24"/>
          <p:cNvSpPr/>
          <p:nvPr/>
        </p:nvSpPr>
        <p:spPr>
          <a:xfrm>
            <a:off x="6903720" y="3255120"/>
            <a:ext cx="447984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E2A38"/>
                </a:solidFill>
                <a:effectLst/>
                <a:uFillTx/>
                <a:latin typeface="Cambria"/>
                <a:ea typeface="Cambria"/>
              </a:rPr>
              <a:t>Conclusion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25"/>
          <p:cNvSpPr/>
          <p:nvPr/>
        </p:nvSpPr>
        <p:spPr>
          <a:xfrm>
            <a:off x="6309360" y="4078080"/>
            <a:ext cx="401760" cy="401760"/>
          </a:xfrm>
          <a:prstGeom prst="ellipse">
            <a:avLst/>
          </a:prstGeom>
          <a:solidFill>
            <a:srgbClr val="E07A5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26"/>
          <p:cNvSpPr/>
          <p:nvPr/>
        </p:nvSpPr>
        <p:spPr>
          <a:xfrm>
            <a:off x="6309360" y="4078080"/>
            <a:ext cx="40176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9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27"/>
          <p:cNvSpPr/>
          <p:nvPr/>
        </p:nvSpPr>
        <p:spPr>
          <a:xfrm>
            <a:off x="6903720" y="4096440"/>
            <a:ext cx="447984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E2A38"/>
                </a:solidFill>
                <a:effectLst/>
                <a:uFillTx/>
                <a:latin typeface="Cambria"/>
                <a:ea typeface="Cambria"/>
              </a:rPr>
              <a:t>Appendix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 0"/>
          <p:cNvSpPr/>
          <p:nvPr/>
        </p:nvSpPr>
        <p:spPr>
          <a:xfrm>
            <a:off x="640080" y="411480"/>
            <a:ext cx="1088064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1E2A38"/>
                </a:solidFill>
                <a:effectLst/>
                <a:uFillTx/>
                <a:latin typeface="Cambria"/>
                <a:ea typeface="Cambria"/>
              </a:rPr>
              <a:t>Executive Summary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1"/>
          <p:cNvSpPr/>
          <p:nvPr/>
        </p:nvSpPr>
        <p:spPr>
          <a:xfrm>
            <a:off x="822960" y="1463040"/>
            <a:ext cx="10514880" cy="420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199"/>
              </a:spcAft>
              <a:buClr>
                <a:srgbClr val="2B2B2B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Compared 2,182 Indian and 1,907 UK respondents across skills, tools, pay and experience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199"/>
              </a:spcAft>
              <a:buClr>
                <a:srgbClr val="2B2B2B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The most-used languages are near-identical in both markets — the core stack transfers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199"/>
              </a:spcAft>
              <a:buClr>
                <a:srgbClr val="2B2B2B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Divergence in tools: the UK leans Microsoft, India leans MongoDB, MySQL and Google Cloud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199"/>
              </a:spcAft>
              <a:buClr>
                <a:srgbClr val="2B2B2B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The raw 5x salary gap narrows to 2.3x once experience is held constant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199"/>
              </a:spcAft>
              <a:buClr>
                <a:srgbClr val="2B2B2B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AI tool use differs sharply and significantly — 61% daily use in India against 38% in the UK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199"/>
              </a:spcAft>
              <a:buClr>
                <a:srgbClr val="2B2B2B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Recommendation: for someone moving markets, the proportional gain is largest early in their career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 0"/>
          <p:cNvSpPr/>
          <p:nvPr/>
        </p:nvSpPr>
        <p:spPr>
          <a:xfrm>
            <a:off x="640080" y="411480"/>
            <a:ext cx="1088064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1E2A38"/>
                </a:solidFill>
                <a:effectLst/>
                <a:uFillTx/>
                <a:latin typeface="Cambria"/>
                <a:ea typeface="Cambria"/>
              </a:rPr>
              <a:t>Introduction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1"/>
          <p:cNvSpPr/>
          <p:nvPr/>
        </p:nvSpPr>
        <p:spPr>
          <a:xfrm>
            <a:off x="640080" y="1371600"/>
            <a:ext cx="5211360" cy="4205520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 w="12700">
            <a:solidFill>
              <a:srgbClr val="E3E3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2"/>
          <p:cNvSpPr/>
          <p:nvPr/>
        </p:nvSpPr>
        <p:spPr>
          <a:xfrm>
            <a:off x="1005840" y="1691640"/>
            <a:ext cx="45712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3D5A80"/>
                </a:solidFill>
                <a:effectLst/>
                <a:uFillTx/>
                <a:latin typeface="Cambria"/>
                <a:ea typeface="Cambria"/>
              </a:rPr>
              <a:t>The problem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3"/>
          <p:cNvSpPr/>
          <p:nvPr/>
        </p:nvSpPr>
        <p:spPr>
          <a:xfrm>
            <a:off x="1005840" y="2194560"/>
            <a:ext cx="4571280" cy="30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The survey covers 177 countries but reports mostly global figures. Averages flatten the differences between markets, so a developer in one country cannot tell how their skills, tools or pay compare with another.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India and the UK are both well represented in the data, so the two can be compared directly.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4"/>
          <p:cNvSpPr/>
          <p:nvPr/>
        </p:nvSpPr>
        <p:spPr>
          <a:xfrm>
            <a:off x="6309360" y="1371600"/>
            <a:ext cx="5211360" cy="4205520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 w="12700">
            <a:solidFill>
              <a:srgbClr val="E3E3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5"/>
          <p:cNvSpPr/>
          <p:nvPr/>
        </p:nvSpPr>
        <p:spPr>
          <a:xfrm>
            <a:off x="6675120" y="1691640"/>
            <a:ext cx="45712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E07A5F"/>
                </a:solidFill>
                <a:effectLst/>
                <a:uFillTx/>
                <a:latin typeface="Cambria"/>
                <a:ea typeface="Cambria"/>
              </a:rPr>
              <a:t>Questions investigated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6"/>
          <p:cNvSpPr/>
          <p:nvPr/>
        </p:nvSpPr>
        <p:spPr>
          <a:xfrm>
            <a:off x="6675120" y="2194560"/>
            <a:ext cx="4571280" cy="30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199"/>
              </a:spcAft>
              <a:buClr>
                <a:srgbClr val="2B2B2B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Which languages, databases and platforms dominate in each market?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199"/>
              </a:spcAft>
              <a:buClr>
                <a:srgbClr val="2B2B2B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How does pay compare, and does the comparison survive controlling for experience?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199"/>
              </a:spcAft>
              <a:buClr>
                <a:srgbClr val="2B2B2B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How much experience does each market's workforce hold?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199"/>
              </a:spcAft>
              <a:buClr>
                <a:srgbClr val="2B2B2B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Does AI tool adoption differ between the two?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7"/>
          <p:cNvSpPr/>
          <p:nvPr/>
        </p:nvSpPr>
        <p:spPr>
          <a:xfrm>
            <a:off x="640080" y="5760720"/>
            <a:ext cx="108806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Audience: </a:t>
            </a:r>
            <a:r>
              <a:rPr lang="en-US" sz="13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anyone planning a move between these markets, and hiring teams comparing talent pools across them.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ext 0"/>
          <p:cNvSpPr/>
          <p:nvPr/>
        </p:nvSpPr>
        <p:spPr>
          <a:xfrm>
            <a:off x="640080" y="411480"/>
            <a:ext cx="1088064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1E2A38"/>
                </a:solidFill>
                <a:effectLst/>
                <a:uFillTx/>
                <a:latin typeface="Cambria"/>
                <a:ea typeface="Cambria"/>
              </a:rPr>
              <a:t>Methodology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1"/>
          <p:cNvSpPr/>
          <p:nvPr/>
        </p:nvSpPr>
        <p:spPr>
          <a:xfrm>
            <a:off x="685800" y="1463040"/>
            <a:ext cx="383400" cy="383400"/>
          </a:xfrm>
          <a:prstGeom prst="ellipse">
            <a:avLst/>
          </a:prstGeom>
          <a:solidFill>
            <a:srgbClr val="E07A5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2"/>
          <p:cNvSpPr/>
          <p:nvPr/>
        </p:nvSpPr>
        <p:spPr>
          <a:xfrm>
            <a:off x="685800" y="1463040"/>
            <a:ext cx="3834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3"/>
          <p:cNvSpPr/>
          <p:nvPr/>
        </p:nvSpPr>
        <p:spPr>
          <a:xfrm>
            <a:off x="1325880" y="1417320"/>
            <a:ext cx="26510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E2A38"/>
                </a:solidFill>
                <a:effectLst/>
                <a:uFillTx/>
                <a:latin typeface="Cambria"/>
                <a:ea typeface="Cambria"/>
              </a:rPr>
              <a:t>Data collection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4"/>
          <p:cNvSpPr/>
          <p:nvPr/>
        </p:nvSpPr>
        <p:spPr>
          <a:xfrm>
            <a:off x="4069080" y="1417320"/>
            <a:ext cx="740592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Stack Overflow Developer Survey 2025, downloaded directly from the published release. 49,191 respondents, 172 columns.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5"/>
          <p:cNvSpPr/>
          <p:nvPr/>
        </p:nvSpPr>
        <p:spPr>
          <a:xfrm>
            <a:off x="685800" y="2331720"/>
            <a:ext cx="383400" cy="383400"/>
          </a:xfrm>
          <a:prstGeom prst="ellipse">
            <a:avLst/>
          </a:prstGeom>
          <a:solidFill>
            <a:srgbClr val="3D5A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6"/>
          <p:cNvSpPr/>
          <p:nvPr/>
        </p:nvSpPr>
        <p:spPr>
          <a:xfrm>
            <a:off x="685800" y="2331720"/>
            <a:ext cx="3834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7"/>
          <p:cNvSpPr/>
          <p:nvPr/>
        </p:nvSpPr>
        <p:spPr>
          <a:xfrm>
            <a:off x="1325880" y="2286000"/>
            <a:ext cx="26510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E2A38"/>
                </a:solidFill>
                <a:effectLst/>
                <a:uFillTx/>
                <a:latin typeface="Cambria"/>
                <a:ea typeface="Cambria"/>
              </a:rPr>
              <a:t>Data exploration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8"/>
          <p:cNvSpPr/>
          <p:nvPr/>
        </p:nvSpPr>
        <p:spPr>
          <a:xfrm>
            <a:off x="4069080" y="2286000"/>
            <a:ext cx="740592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Checked sample sizes before committing. Ruled out a data-roles-only comparison — only ~112 UK respondents held data jobs.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9"/>
          <p:cNvSpPr/>
          <p:nvPr/>
        </p:nvSpPr>
        <p:spPr>
          <a:xfrm>
            <a:off x="685800" y="3200400"/>
            <a:ext cx="383400" cy="383400"/>
          </a:xfrm>
          <a:prstGeom prst="ellipse">
            <a:avLst/>
          </a:prstGeom>
          <a:solidFill>
            <a:srgbClr val="E07A5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10"/>
          <p:cNvSpPr/>
          <p:nvPr/>
        </p:nvSpPr>
        <p:spPr>
          <a:xfrm>
            <a:off x="685800" y="3200400"/>
            <a:ext cx="3834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11"/>
          <p:cNvSpPr/>
          <p:nvPr/>
        </p:nvSpPr>
        <p:spPr>
          <a:xfrm>
            <a:off x="1325880" y="3154680"/>
            <a:ext cx="26510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E2A38"/>
                </a:solidFill>
                <a:effectLst/>
                <a:uFillTx/>
                <a:latin typeface="Cambria"/>
                <a:ea typeface="Cambria"/>
              </a:rPr>
              <a:t>Data cleaning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12"/>
          <p:cNvSpPr/>
          <p:nvPr/>
        </p:nvSpPr>
        <p:spPr>
          <a:xfrm>
            <a:off x="4069080" y="3154680"/>
            <a:ext cx="740592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Excluded students and retired respondents. Removed 62 impossible salaries. Left missing values out rather than imputing them.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13"/>
          <p:cNvSpPr/>
          <p:nvPr/>
        </p:nvSpPr>
        <p:spPr>
          <a:xfrm>
            <a:off x="685800" y="4069080"/>
            <a:ext cx="383400" cy="383400"/>
          </a:xfrm>
          <a:prstGeom prst="ellipse">
            <a:avLst/>
          </a:prstGeom>
          <a:solidFill>
            <a:srgbClr val="3D5A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14"/>
          <p:cNvSpPr/>
          <p:nvPr/>
        </p:nvSpPr>
        <p:spPr>
          <a:xfrm>
            <a:off x="685800" y="4069080"/>
            <a:ext cx="3834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15"/>
          <p:cNvSpPr/>
          <p:nvPr/>
        </p:nvSpPr>
        <p:spPr>
          <a:xfrm>
            <a:off x="1325880" y="4023360"/>
            <a:ext cx="26510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E2A38"/>
                </a:solidFill>
                <a:effectLst/>
                <a:uFillTx/>
                <a:latin typeface="Cambria"/>
                <a:ea typeface="Cambria"/>
              </a:rPr>
              <a:t>Analysis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16"/>
          <p:cNvSpPr/>
          <p:nvPr/>
        </p:nvSpPr>
        <p:spPr>
          <a:xfrm>
            <a:off x="4069080" y="4023360"/>
            <a:ext cx="740592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Percentage comparisons across four skill categories, salary banded by experience, and a chi-square test on AI adoption.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17"/>
          <p:cNvSpPr/>
          <p:nvPr/>
        </p:nvSpPr>
        <p:spPr>
          <a:xfrm>
            <a:off x="685800" y="4937760"/>
            <a:ext cx="383400" cy="383400"/>
          </a:xfrm>
          <a:prstGeom prst="ellipse">
            <a:avLst/>
          </a:prstGeom>
          <a:solidFill>
            <a:srgbClr val="E07A5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18"/>
          <p:cNvSpPr/>
          <p:nvPr/>
        </p:nvSpPr>
        <p:spPr>
          <a:xfrm>
            <a:off x="685800" y="4937760"/>
            <a:ext cx="3834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19"/>
          <p:cNvSpPr/>
          <p:nvPr/>
        </p:nvSpPr>
        <p:spPr>
          <a:xfrm>
            <a:off x="1325880" y="4892040"/>
            <a:ext cx="26510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E2A38"/>
                </a:solidFill>
                <a:effectLst/>
                <a:uFillTx/>
                <a:latin typeface="Cambria"/>
                <a:ea typeface="Cambria"/>
              </a:rPr>
              <a:t>Visualization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20"/>
          <p:cNvSpPr/>
          <p:nvPr/>
        </p:nvSpPr>
        <p:spPr>
          <a:xfrm>
            <a:off x="4069080" y="4892040"/>
            <a:ext cx="740592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Charts in Python (matplotlib) and a formula-driven dashboard in LibreOffice Calc.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 0"/>
          <p:cNvSpPr/>
          <p:nvPr/>
        </p:nvSpPr>
        <p:spPr>
          <a:xfrm>
            <a:off x="640080" y="411480"/>
            <a:ext cx="1088064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1E2A38"/>
                </a:solidFill>
                <a:effectLst/>
                <a:uFillTx/>
                <a:latin typeface="Cambria"/>
                <a:ea typeface="Cambria"/>
              </a:rPr>
              <a:t>Results — the core stack is the same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76" name="Chart 0"/>
          <p:cNvGraphicFramePr/>
          <p:nvPr/>
        </p:nvGraphicFramePr>
        <p:xfrm>
          <a:off x="640080" y="1371600"/>
          <a:ext cx="6857280" cy="4205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77" name="Text 1"/>
          <p:cNvSpPr/>
          <p:nvPr/>
        </p:nvSpPr>
        <p:spPr>
          <a:xfrm>
            <a:off x="7955280" y="2103120"/>
            <a:ext cx="35654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E2A38"/>
                </a:solidFill>
                <a:effectLst/>
                <a:uFillTx/>
                <a:latin typeface="Cambria"/>
                <a:ea typeface="Cambria"/>
              </a:rPr>
              <a:t>Within a few points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2"/>
          <p:cNvSpPr/>
          <p:nvPr/>
        </p:nvSpPr>
        <p:spPr>
          <a:xfrm>
            <a:off x="7955280" y="2697480"/>
            <a:ext cx="3565440" cy="201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The most-used languages are almost identical in both countries. The baseline skills transfer between markets, so someone moving would not need to relearn the fundamentals.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3"/>
          <p:cNvSpPr/>
          <p:nvPr/>
        </p:nvSpPr>
        <p:spPr>
          <a:xfrm>
            <a:off x="640080" y="5760720"/>
            <a:ext cx="108806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Percentages of each country's respondents, not counts.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ext 0"/>
          <p:cNvSpPr/>
          <p:nvPr/>
        </p:nvSpPr>
        <p:spPr>
          <a:xfrm>
            <a:off x="640080" y="411480"/>
            <a:ext cx="1088064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1E2A38"/>
                </a:solidFill>
                <a:effectLst/>
                <a:uFillTx/>
                <a:latin typeface="Cambria"/>
                <a:ea typeface="Cambria"/>
              </a:rPr>
              <a:t>Results — but the tooling diverges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1"/>
          <p:cNvSpPr/>
          <p:nvPr/>
        </p:nvSpPr>
        <p:spPr>
          <a:xfrm>
            <a:off x="640080" y="1371600"/>
            <a:ext cx="5211360" cy="4022640"/>
          </a:xfrm>
          <a:prstGeom prst="roundRect">
            <a:avLst>
              <a:gd name="adj" fmla="val 1364"/>
            </a:avLst>
          </a:prstGeom>
          <a:solidFill>
            <a:srgbClr val="FFFFFF"/>
          </a:solidFill>
          <a:ln w="12700">
            <a:solidFill>
              <a:srgbClr val="E3E3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2"/>
          <p:cNvSpPr/>
          <p:nvPr/>
        </p:nvSpPr>
        <p:spPr>
          <a:xfrm>
            <a:off x="1005840" y="1645920"/>
            <a:ext cx="45712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3D5A80"/>
                </a:solidFill>
                <a:effectLst/>
                <a:uFillTx/>
                <a:latin typeface="Cambria"/>
                <a:ea typeface="Cambria"/>
              </a:rPr>
              <a:t>UK leans Microsoft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3"/>
          <p:cNvSpPr/>
          <p:nvPr/>
        </p:nvSpPr>
        <p:spPr>
          <a:xfrm>
            <a:off x="1005840" y="2148840"/>
            <a:ext cx="4571280" cy="29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199"/>
              </a:spcAft>
              <a:buClr>
                <a:srgbClr val="2B2B2B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C#   34% vs 17%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199"/>
              </a:spcAft>
              <a:buClr>
                <a:srgbClr val="2B2B2B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PowerShell   26% vs 15%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199"/>
              </a:spcAft>
              <a:buClr>
                <a:srgbClr val="2B2B2B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SQL Server   36% vs 26%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199"/>
              </a:spcAft>
              <a:buClr>
                <a:srgbClr val="2B2B2B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Azure   34% vs 25%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199"/>
              </a:spcAft>
              <a:buClr>
                <a:srgbClr val="2B2B2B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NuGet   24% vs 11%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4"/>
          <p:cNvSpPr/>
          <p:nvPr/>
        </p:nvSpPr>
        <p:spPr>
          <a:xfrm>
            <a:off x="6309360" y="1371600"/>
            <a:ext cx="5211360" cy="4022640"/>
          </a:xfrm>
          <a:prstGeom prst="roundRect">
            <a:avLst>
              <a:gd name="adj" fmla="val 1364"/>
            </a:avLst>
          </a:prstGeom>
          <a:solidFill>
            <a:srgbClr val="FFFFFF"/>
          </a:solidFill>
          <a:ln w="12700">
            <a:solidFill>
              <a:srgbClr val="E3E3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5"/>
          <p:cNvSpPr/>
          <p:nvPr/>
        </p:nvSpPr>
        <p:spPr>
          <a:xfrm>
            <a:off x="6675120" y="1645920"/>
            <a:ext cx="45712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E07A5F"/>
                </a:solidFill>
                <a:effectLst/>
                <a:uFillTx/>
                <a:latin typeface="Cambria"/>
                <a:ea typeface="Cambria"/>
              </a:rPr>
              <a:t>India leans elsewhere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6"/>
          <p:cNvSpPr/>
          <p:nvPr/>
        </p:nvSpPr>
        <p:spPr>
          <a:xfrm>
            <a:off x="6675120" y="2148840"/>
            <a:ext cx="4571280" cy="29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199"/>
              </a:spcAft>
              <a:buClr>
                <a:srgbClr val="2B2B2B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MongoDB   45% vs 17%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199"/>
              </a:spcAft>
              <a:buClr>
                <a:srgbClr val="2B2B2B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MySQL   58% vs 36%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199"/>
              </a:spcAft>
              <a:buClr>
                <a:srgbClr val="2B2B2B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Google Cloud   33% vs 24%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199"/>
              </a:spcAft>
              <a:buClr>
                <a:srgbClr val="2B2B2B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Firebase and Cloud Firestore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199"/>
              </a:spcAft>
              <a:buClr>
                <a:srgbClr val="2B2B2B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Java   37% vs 22%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7"/>
          <p:cNvSpPr/>
          <p:nvPr/>
        </p:nvSpPr>
        <p:spPr>
          <a:xfrm>
            <a:off x="640080" y="5623560"/>
            <a:ext cx="108806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MongoDB is the largest single gap in the skills data</a:t>
            </a:r>
            <a:r>
              <a:rPr lang="en-US" sz="13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 — 28 points. AWS, PostgreSQL, Docker and Kubernetes are near-identical in both.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 0"/>
          <p:cNvSpPr/>
          <p:nvPr/>
        </p:nvSpPr>
        <p:spPr>
          <a:xfrm>
            <a:off x="640080" y="411480"/>
            <a:ext cx="1088064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1E2A38"/>
                </a:solidFill>
                <a:effectLst/>
                <a:uFillTx/>
                <a:latin typeface="Cambria"/>
                <a:ea typeface="Cambria"/>
              </a:rPr>
              <a:t>Results — the salary gap is not what it looks like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89" name="Chart 0"/>
          <p:cNvGraphicFramePr/>
          <p:nvPr/>
        </p:nvGraphicFramePr>
        <p:xfrm>
          <a:off x="640080" y="1371600"/>
          <a:ext cx="7314480" cy="4205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90" name="Text 1"/>
          <p:cNvSpPr/>
          <p:nvPr/>
        </p:nvSpPr>
        <p:spPr>
          <a:xfrm>
            <a:off x="8321040" y="1691640"/>
            <a:ext cx="31996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200" b="1" u="none" strike="noStrike">
                <a:solidFill>
                  <a:srgbClr val="1E2A38"/>
                </a:solidFill>
                <a:effectLst/>
                <a:uFillTx/>
                <a:latin typeface="Cambria"/>
                <a:ea typeface="Cambria"/>
              </a:rPr>
              <a:t>6.3x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2"/>
          <p:cNvSpPr/>
          <p:nvPr/>
        </p:nvSpPr>
        <p:spPr>
          <a:xfrm>
            <a:off x="8321040" y="2395800"/>
            <a:ext cx="31996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gap at entry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3"/>
          <p:cNvSpPr/>
          <p:nvPr/>
        </p:nvSpPr>
        <p:spPr>
          <a:xfrm>
            <a:off x="8321040" y="2971800"/>
            <a:ext cx="31996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200" b="1" u="none" strike="noStrike">
                <a:solidFill>
                  <a:srgbClr val="1E2A38"/>
                </a:solidFill>
                <a:effectLst/>
                <a:uFillTx/>
                <a:latin typeface="Cambria"/>
                <a:ea typeface="Cambria"/>
              </a:rPr>
              <a:t>2.3x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4"/>
          <p:cNvSpPr/>
          <p:nvPr/>
        </p:nvSpPr>
        <p:spPr>
          <a:xfrm>
            <a:off x="8321040" y="3675960"/>
            <a:ext cx="31996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gap at 20+ years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5"/>
          <p:cNvSpPr/>
          <p:nvPr/>
        </p:nvSpPr>
        <p:spPr>
          <a:xfrm>
            <a:off x="8321040" y="4206240"/>
            <a:ext cx="3199680" cy="12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Raw medians differ by about 5x, but UK respondents hold twice the experience. Comparing like with like, the gap narrows steadily.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ext 0"/>
          <p:cNvSpPr/>
          <p:nvPr/>
        </p:nvSpPr>
        <p:spPr>
          <a:xfrm>
            <a:off x="640080" y="411480"/>
            <a:ext cx="1088064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1E2A38"/>
                </a:solidFill>
                <a:effectLst/>
                <a:uFillTx/>
                <a:latin typeface="Cambria"/>
                <a:ea typeface="Cambria"/>
              </a:rPr>
              <a:t>Results — AI use differs significantly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1"/>
          <p:cNvSpPr/>
          <p:nvPr/>
        </p:nvSpPr>
        <p:spPr>
          <a:xfrm>
            <a:off x="640080" y="1417320"/>
            <a:ext cx="5211360" cy="21938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3E3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2"/>
          <p:cNvSpPr/>
          <p:nvPr/>
        </p:nvSpPr>
        <p:spPr>
          <a:xfrm>
            <a:off x="1005840" y="1691640"/>
            <a:ext cx="45712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Use AI tools daily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3"/>
          <p:cNvSpPr/>
          <p:nvPr/>
        </p:nvSpPr>
        <p:spPr>
          <a:xfrm>
            <a:off x="1005840" y="2103120"/>
            <a:ext cx="210240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800" b="1" u="none" strike="noStrike">
                <a:solidFill>
                  <a:srgbClr val="E07A5F"/>
                </a:solidFill>
                <a:effectLst/>
                <a:uFillTx/>
                <a:latin typeface="Cambria"/>
                <a:ea typeface="Cambria"/>
              </a:rPr>
              <a:t>61%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4"/>
          <p:cNvSpPr/>
          <p:nvPr/>
        </p:nvSpPr>
        <p:spPr>
          <a:xfrm>
            <a:off x="1005840" y="3017520"/>
            <a:ext cx="21024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India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5"/>
          <p:cNvSpPr/>
          <p:nvPr/>
        </p:nvSpPr>
        <p:spPr>
          <a:xfrm>
            <a:off x="3291840" y="2103120"/>
            <a:ext cx="210240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800" b="1" u="none" strike="noStrike">
                <a:solidFill>
                  <a:srgbClr val="3D5A80"/>
                </a:solidFill>
                <a:effectLst/>
                <a:uFillTx/>
                <a:latin typeface="Cambria"/>
                <a:ea typeface="Cambria"/>
              </a:rPr>
              <a:t>38%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6"/>
          <p:cNvSpPr/>
          <p:nvPr/>
        </p:nvSpPr>
        <p:spPr>
          <a:xfrm>
            <a:off x="3291840" y="3017520"/>
            <a:ext cx="21024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UK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7"/>
          <p:cNvSpPr/>
          <p:nvPr/>
        </p:nvSpPr>
        <p:spPr>
          <a:xfrm>
            <a:off x="6309360" y="1417320"/>
            <a:ext cx="5211360" cy="21938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3E3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8"/>
          <p:cNvSpPr/>
          <p:nvPr/>
        </p:nvSpPr>
        <p:spPr>
          <a:xfrm>
            <a:off x="6675120" y="1691640"/>
            <a:ext cx="45712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Won't use AI at all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9"/>
          <p:cNvSpPr/>
          <p:nvPr/>
        </p:nvSpPr>
        <p:spPr>
          <a:xfrm>
            <a:off x="6675120" y="2103120"/>
            <a:ext cx="210240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800" b="1" u="none" strike="noStrike">
                <a:solidFill>
                  <a:srgbClr val="E07A5F"/>
                </a:solidFill>
                <a:effectLst/>
                <a:uFillTx/>
                <a:latin typeface="Cambria"/>
                <a:ea typeface="Cambria"/>
              </a:rPr>
              <a:t>5%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10"/>
          <p:cNvSpPr/>
          <p:nvPr/>
        </p:nvSpPr>
        <p:spPr>
          <a:xfrm>
            <a:off x="6675120" y="3017520"/>
            <a:ext cx="21024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India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11"/>
          <p:cNvSpPr/>
          <p:nvPr/>
        </p:nvSpPr>
        <p:spPr>
          <a:xfrm>
            <a:off x="8961120" y="2103120"/>
            <a:ext cx="210240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800" b="1" u="none" strike="noStrike">
                <a:solidFill>
                  <a:srgbClr val="3D5A80"/>
                </a:solidFill>
                <a:effectLst/>
                <a:uFillTx/>
                <a:latin typeface="Cambria"/>
                <a:ea typeface="Cambria"/>
              </a:rPr>
              <a:t>26%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12"/>
          <p:cNvSpPr/>
          <p:nvPr/>
        </p:nvSpPr>
        <p:spPr>
          <a:xfrm>
            <a:off x="8961120" y="3017520"/>
            <a:ext cx="21024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UK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13"/>
          <p:cNvSpPr/>
          <p:nvPr/>
        </p:nvSpPr>
        <p:spPr>
          <a:xfrm>
            <a:off x="640080" y="3931920"/>
            <a:ext cx="10880640" cy="1188000"/>
          </a:xfrm>
          <a:prstGeom prst="roundRect">
            <a:avLst>
              <a:gd name="adj" fmla="val 4615"/>
            </a:avLst>
          </a:prstGeom>
          <a:solidFill>
            <a:srgbClr val="1E2A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14"/>
          <p:cNvSpPr/>
          <p:nvPr/>
        </p:nvSpPr>
        <p:spPr>
          <a:xfrm>
            <a:off x="1005840" y="4187880"/>
            <a:ext cx="1014912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Chi-square test: p &lt; 0.000001. The difference is not chance. Weekly and occasional use are almost identical in both countries, the entire difference sits at the two extremes.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ext 0"/>
          <p:cNvSpPr/>
          <p:nvPr/>
        </p:nvSpPr>
        <p:spPr>
          <a:xfrm>
            <a:off x="640080" y="411480"/>
            <a:ext cx="1088064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1E2A38"/>
                </a:solidFill>
                <a:effectLst/>
                <a:uFillTx/>
                <a:latin typeface="Cambria"/>
                <a:ea typeface="Cambria"/>
              </a:rPr>
              <a:t>Dashboard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1"/>
          <p:cNvSpPr/>
          <p:nvPr/>
        </p:nvSpPr>
        <p:spPr>
          <a:xfrm>
            <a:off x="549000" y="1371600"/>
            <a:ext cx="10880640" cy="205704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2700">
            <a:solidFill>
              <a:srgbClr val="E3E3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2"/>
          <p:cNvSpPr/>
          <p:nvPr/>
        </p:nvSpPr>
        <p:spPr>
          <a:xfrm>
            <a:off x="1005840" y="1463400"/>
            <a:ext cx="101491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E2A38"/>
                </a:solidFill>
                <a:effectLst/>
                <a:uFillTx/>
                <a:latin typeface="Cambria"/>
                <a:ea typeface="Cambria"/>
              </a:rPr>
              <a:t>Built in LibreOffice Calc, saved as .xlsx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3"/>
          <p:cNvSpPr/>
          <p:nvPr/>
        </p:nvSpPr>
        <p:spPr>
          <a:xfrm>
            <a:off x="1005840" y="1828800"/>
            <a:ext cx="10149120" cy="15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199"/>
              </a:spcAft>
              <a:buClr>
                <a:srgbClr val="2B2B2B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Five source sheets: salary by experience, languages, databases, platforms, AI adoption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199"/>
              </a:spcAft>
              <a:buClr>
                <a:srgbClr val="2B2B2B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A summary view built on live SUMIFS, COUNTIFS and VLOOKUP formulas, not pasted values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199"/>
              </a:spcAft>
              <a:buClr>
                <a:srgbClr val="2B2B2B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A gap column comparing the two markets on every measure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199"/>
              </a:spcAft>
              <a:buClr>
                <a:srgbClr val="2B2B2B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Figures recalculate automatically if the underlying data changes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4"/>
          <p:cNvSpPr/>
          <p:nvPr/>
        </p:nvSpPr>
        <p:spPr>
          <a:xfrm>
            <a:off x="640080" y="4846320"/>
            <a:ext cx="108806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Full workbook: india-uk-dashboard.xlsx in the project repository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5" name=""/>
          <p:cNvPicPr/>
          <p:nvPr/>
        </p:nvPicPr>
        <p:blipFill>
          <a:blip r:embed="rId1"/>
          <a:stretch/>
        </p:blipFill>
        <p:spPr>
          <a:xfrm>
            <a:off x="1005840" y="3429000"/>
            <a:ext cx="8366400" cy="2775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Text 0"/>
          <p:cNvSpPr/>
          <p:nvPr/>
        </p:nvSpPr>
        <p:spPr>
          <a:xfrm>
            <a:off x="640080" y="411480"/>
            <a:ext cx="1088064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1E2A38"/>
                </a:solidFill>
                <a:effectLst/>
                <a:uFillTx/>
                <a:latin typeface="Cambria"/>
                <a:ea typeface="Cambria"/>
              </a:rPr>
              <a:t>Findings &amp; Implications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1"/>
          <p:cNvSpPr/>
          <p:nvPr/>
        </p:nvSpPr>
        <p:spPr>
          <a:xfrm>
            <a:off x="685800" y="1472040"/>
            <a:ext cx="383400" cy="383400"/>
          </a:xfrm>
          <a:prstGeom prst="ellipse">
            <a:avLst/>
          </a:prstGeom>
          <a:solidFill>
            <a:srgbClr val="E07A5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2"/>
          <p:cNvSpPr/>
          <p:nvPr/>
        </p:nvSpPr>
        <p:spPr>
          <a:xfrm>
            <a:off x="685800" y="1472040"/>
            <a:ext cx="3834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3"/>
          <p:cNvSpPr/>
          <p:nvPr/>
        </p:nvSpPr>
        <p:spPr>
          <a:xfrm>
            <a:off x="1325880" y="1417320"/>
            <a:ext cx="31996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E2A38"/>
                </a:solidFill>
                <a:effectLst/>
                <a:uFillTx/>
                <a:latin typeface="Cambria"/>
                <a:ea typeface="Cambria"/>
              </a:rPr>
              <a:t>Shared core stack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4"/>
          <p:cNvSpPr/>
          <p:nvPr/>
        </p:nvSpPr>
        <p:spPr>
          <a:xfrm>
            <a:off x="4617720" y="1417320"/>
            <a:ext cx="685728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Baseline skills transfer between markets. No need to relearn fundamentals when moving.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5"/>
          <p:cNvSpPr/>
          <p:nvPr/>
        </p:nvSpPr>
        <p:spPr>
          <a:xfrm>
            <a:off x="685800" y="2551320"/>
            <a:ext cx="383400" cy="383400"/>
          </a:xfrm>
          <a:prstGeom prst="ellipse">
            <a:avLst/>
          </a:prstGeom>
          <a:solidFill>
            <a:srgbClr val="3D5A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6"/>
          <p:cNvSpPr/>
          <p:nvPr/>
        </p:nvSpPr>
        <p:spPr>
          <a:xfrm>
            <a:off x="685800" y="2551320"/>
            <a:ext cx="3834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7"/>
          <p:cNvSpPr/>
          <p:nvPr/>
        </p:nvSpPr>
        <p:spPr>
          <a:xfrm>
            <a:off x="1325880" y="2496240"/>
            <a:ext cx="31996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E2A38"/>
                </a:solidFill>
                <a:effectLst/>
                <a:uFillTx/>
                <a:latin typeface="Cambria"/>
                <a:ea typeface="Cambria"/>
              </a:rPr>
              <a:t>Divergent tooling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8"/>
          <p:cNvSpPr/>
          <p:nvPr/>
        </p:nvSpPr>
        <p:spPr>
          <a:xfrm>
            <a:off x="4617720" y="2496240"/>
            <a:ext cx="685728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Someone moving from India to the UK should expect Microsoft tooling like C#, Azure, SQL Server, to be more commonly required than their experience suggests.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9"/>
          <p:cNvSpPr/>
          <p:nvPr/>
        </p:nvSpPr>
        <p:spPr>
          <a:xfrm>
            <a:off x="685800" y="3630240"/>
            <a:ext cx="383400" cy="383400"/>
          </a:xfrm>
          <a:prstGeom prst="ellipse">
            <a:avLst/>
          </a:prstGeom>
          <a:solidFill>
            <a:srgbClr val="E07A5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10"/>
          <p:cNvSpPr/>
          <p:nvPr/>
        </p:nvSpPr>
        <p:spPr>
          <a:xfrm>
            <a:off x="685800" y="3630240"/>
            <a:ext cx="3834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11"/>
          <p:cNvSpPr/>
          <p:nvPr/>
        </p:nvSpPr>
        <p:spPr>
          <a:xfrm>
            <a:off x="1325880" y="3575160"/>
            <a:ext cx="31996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E2A38"/>
                </a:solidFill>
                <a:effectLst/>
                <a:uFillTx/>
                <a:latin typeface="Cambria"/>
                <a:ea typeface="Cambria"/>
              </a:rPr>
              <a:t>Pay gap narrows with seniority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12"/>
          <p:cNvSpPr/>
          <p:nvPr/>
        </p:nvSpPr>
        <p:spPr>
          <a:xfrm>
            <a:off x="4617720" y="3575160"/>
            <a:ext cx="685728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The value of changing markets depends heavily on career stage, not just on geography.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13"/>
          <p:cNvSpPr/>
          <p:nvPr/>
        </p:nvSpPr>
        <p:spPr>
          <a:xfrm>
            <a:off x="685800" y="4709160"/>
            <a:ext cx="383400" cy="383400"/>
          </a:xfrm>
          <a:prstGeom prst="ellipse">
            <a:avLst/>
          </a:prstGeom>
          <a:solidFill>
            <a:srgbClr val="3D5A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14"/>
          <p:cNvSpPr/>
          <p:nvPr/>
        </p:nvSpPr>
        <p:spPr>
          <a:xfrm>
            <a:off x="685800" y="4709160"/>
            <a:ext cx="3834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15"/>
          <p:cNvSpPr/>
          <p:nvPr/>
        </p:nvSpPr>
        <p:spPr>
          <a:xfrm>
            <a:off x="1325880" y="4654440"/>
            <a:ext cx="31996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E2A38"/>
                </a:solidFill>
                <a:effectLst/>
                <a:uFillTx/>
                <a:latin typeface="Cambria"/>
                <a:ea typeface="Cambria"/>
              </a:rPr>
              <a:t>Indian pay plateaus early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16"/>
          <p:cNvSpPr/>
          <p:nvPr/>
        </p:nvSpPr>
        <p:spPr>
          <a:xfrm>
            <a:off x="4617720" y="4654440"/>
            <a:ext cx="685728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$44k at 11-20 years rises to only $47k at 20+, while the UK plateaus at a far higher level.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2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Text 0"/>
          <p:cNvSpPr/>
          <p:nvPr/>
        </p:nvSpPr>
        <p:spPr>
          <a:xfrm>
            <a:off x="640080" y="411480"/>
            <a:ext cx="1088064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Conclusion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1"/>
          <p:cNvSpPr/>
          <p:nvPr/>
        </p:nvSpPr>
        <p:spPr>
          <a:xfrm>
            <a:off x="640080" y="1508760"/>
            <a:ext cx="1088064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E07A5F"/>
                </a:solidFill>
                <a:effectLst/>
                <a:uFillTx/>
                <a:latin typeface="Cambria"/>
                <a:ea typeface="Cambria"/>
              </a:rPr>
              <a:t>Move earlier rather than later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2"/>
          <p:cNvSpPr/>
          <p:nvPr/>
        </p:nvSpPr>
        <p:spPr>
          <a:xfrm>
            <a:off x="640080" y="2194560"/>
            <a:ext cx="1005768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The relative gap is widest at entry level — 6.3x against 2.3x for senior people — so the gain from changing markets is largest at the start of a career.</a:t>
            </a:r>
            <a:endParaRPr lang="en-US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Shape 3"/>
          <p:cNvSpPr/>
          <p:nvPr/>
        </p:nvSpPr>
        <p:spPr>
          <a:xfrm>
            <a:off x="640080" y="3200400"/>
            <a:ext cx="10880640" cy="1416600"/>
          </a:xfrm>
          <a:prstGeom prst="roundRect">
            <a:avLst>
              <a:gd name="adj" fmla="val 3871"/>
            </a:avLst>
          </a:prstGeom>
          <a:solidFill>
            <a:srgbClr val="2A38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4"/>
          <p:cNvSpPr/>
          <p:nvPr/>
        </p:nvSpPr>
        <p:spPr>
          <a:xfrm>
            <a:off x="1005840" y="3429000"/>
            <a:ext cx="101491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The counter-argument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5"/>
          <p:cNvSpPr/>
          <p:nvPr/>
        </p:nvSpPr>
        <p:spPr>
          <a:xfrm>
            <a:off x="1005840" y="3840480"/>
            <a:ext cx="1014912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These are raw dollars. Adjusted for cost of living the difference would narrow considerably, and I have not made that adjustment. So this is a conclusion the data points toward rather than one it proves.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6"/>
          <p:cNvSpPr/>
          <p:nvPr/>
        </p:nvSpPr>
        <p:spPr>
          <a:xfrm>
            <a:off x="640080" y="4892040"/>
            <a:ext cx="108806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E07A5F"/>
                </a:solidFill>
                <a:effectLst/>
                <a:uFillTx/>
                <a:latin typeface="Cambria"/>
                <a:ea typeface="Cambria"/>
              </a:rPr>
              <a:t>Skills transfer. Tooling doesn't. Timing matters most.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Text 0"/>
          <p:cNvSpPr/>
          <p:nvPr/>
        </p:nvSpPr>
        <p:spPr>
          <a:xfrm>
            <a:off x="640080" y="411480"/>
            <a:ext cx="1088064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1E2A38"/>
                </a:solidFill>
                <a:effectLst/>
                <a:uFillTx/>
                <a:latin typeface="Cambria"/>
                <a:ea typeface="Cambria"/>
              </a:rPr>
              <a:t>Appendix — limitations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1"/>
          <p:cNvSpPr/>
          <p:nvPr/>
        </p:nvSpPr>
        <p:spPr>
          <a:xfrm>
            <a:off x="685800" y="1417320"/>
            <a:ext cx="365040" cy="365040"/>
          </a:xfrm>
          <a:prstGeom prst="ellipse">
            <a:avLst/>
          </a:prstGeom>
          <a:solidFill>
            <a:srgbClr val="E07A5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2"/>
          <p:cNvSpPr/>
          <p:nvPr/>
        </p:nvSpPr>
        <p:spPr>
          <a:xfrm>
            <a:off x="685800" y="1417320"/>
            <a:ext cx="3650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3"/>
          <p:cNvSpPr/>
          <p:nvPr/>
        </p:nvSpPr>
        <p:spPr>
          <a:xfrm>
            <a:off x="1298520" y="1371600"/>
            <a:ext cx="30168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1E2A38"/>
                </a:solidFill>
                <a:effectLst/>
                <a:uFillTx/>
                <a:latin typeface="Cambria"/>
                <a:ea typeface="Cambria"/>
              </a:rPr>
              <a:t>Self-selected sample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4"/>
          <p:cNvSpPr/>
          <p:nvPr/>
        </p:nvSpPr>
        <p:spPr>
          <a:xfrm>
            <a:off x="4434840" y="1371600"/>
            <a:ext cx="704016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Respondents chose to take part and mostly already use Stack Overflow. Not representative of either country's workforce.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5"/>
          <p:cNvSpPr/>
          <p:nvPr/>
        </p:nvSpPr>
        <p:spPr>
          <a:xfrm>
            <a:off x="685800" y="2286000"/>
            <a:ext cx="365040" cy="365040"/>
          </a:xfrm>
          <a:prstGeom prst="ellipse">
            <a:avLst/>
          </a:prstGeom>
          <a:solidFill>
            <a:srgbClr val="3D5A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6"/>
          <p:cNvSpPr/>
          <p:nvPr/>
        </p:nvSpPr>
        <p:spPr>
          <a:xfrm>
            <a:off x="685800" y="2286000"/>
            <a:ext cx="3650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7"/>
          <p:cNvSpPr/>
          <p:nvPr/>
        </p:nvSpPr>
        <p:spPr>
          <a:xfrm>
            <a:off x="1298520" y="2240280"/>
            <a:ext cx="30168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1E2A38"/>
                </a:solidFill>
                <a:effectLst/>
                <a:uFillTx/>
                <a:latin typeface="Cambria"/>
                <a:ea typeface="Cambria"/>
              </a:rPr>
              <a:t>Half skipped salary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8"/>
          <p:cNvSpPr/>
          <p:nvPr/>
        </p:nvSpPr>
        <p:spPr>
          <a:xfrm>
            <a:off x="4434840" y="2240280"/>
            <a:ext cx="704016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51% of respondents gave no salary and 28% no country. Every figure comes from those who answered.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9"/>
          <p:cNvSpPr/>
          <p:nvPr/>
        </p:nvSpPr>
        <p:spPr>
          <a:xfrm>
            <a:off x="685800" y="3154680"/>
            <a:ext cx="365040" cy="365040"/>
          </a:xfrm>
          <a:prstGeom prst="ellipse">
            <a:avLst/>
          </a:prstGeom>
          <a:solidFill>
            <a:srgbClr val="E07A5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10"/>
          <p:cNvSpPr/>
          <p:nvPr/>
        </p:nvSpPr>
        <p:spPr>
          <a:xfrm>
            <a:off x="685800" y="3154680"/>
            <a:ext cx="3650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11"/>
          <p:cNvSpPr/>
          <p:nvPr/>
        </p:nvSpPr>
        <p:spPr>
          <a:xfrm>
            <a:off x="1298520" y="3108960"/>
            <a:ext cx="30168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1E2A38"/>
                </a:solidFill>
                <a:effectLst/>
                <a:uFillTx/>
                <a:latin typeface="Cambria"/>
                <a:ea typeface="Cambria"/>
              </a:rPr>
              <a:t>Raw dollars only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12"/>
          <p:cNvSpPr/>
          <p:nvPr/>
        </p:nvSpPr>
        <p:spPr>
          <a:xfrm>
            <a:off x="4434840" y="3108960"/>
            <a:ext cx="704016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No cost-of-living adjustment. What people can actually afford is closer than the figures suggest.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13"/>
          <p:cNvSpPr/>
          <p:nvPr/>
        </p:nvSpPr>
        <p:spPr>
          <a:xfrm>
            <a:off x="685800" y="4023360"/>
            <a:ext cx="365040" cy="365040"/>
          </a:xfrm>
          <a:prstGeom prst="ellipse">
            <a:avLst/>
          </a:prstGeom>
          <a:solidFill>
            <a:srgbClr val="3D5A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14"/>
          <p:cNvSpPr/>
          <p:nvPr/>
        </p:nvSpPr>
        <p:spPr>
          <a:xfrm>
            <a:off x="685800" y="4023360"/>
            <a:ext cx="3650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15"/>
          <p:cNvSpPr/>
          <p:nvPr/>
        </p:nvSpPr>
        <p:spPr>
          <a:xfrm>
            <a:off x="1298520" y="3977640"/>
            <a:ext cx="30168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1E2A38"/>
                </a:solidFill>
                <a:effectLst/>
                <a:uFillTx/>
                <a:latin typeface="Cambria"/>
                <a:ea typeface="Cambria"/>
              </a:rPr>
              <a:t>Why remains unknown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16"/>
          <p:cNvSpPr/>
          <p:nvPr/>
        </p:nvSpPr>
        <p:spPr>
          <a:xfrm>
            <a:off x="4434840" y="3977640"/>
            <a:ext cx="704016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The AI difference is real and tested, but the survey never asks why it exists.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17"/>
          <p:cNvSpPr/>
          <p:nvPr/>
        </p:nvSpPr>
        <p:spPr>
          <a:xfrm>
            <a:off x="685800" y="4892040"/>
            <a:ext cx="365040" cy="365040"/>
          </a:xfrm>
          <a:prstGeom prst="ellipse">
            <a:avLst/>
          </a:prstGeom>
          <a:solidFill>
            <a:srgbClr val="E07A5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18"/>
          <p:cNvSpPr/>
          <p:nvPr/>
        </p:nvSpPr>
        <p:spPr>
          <a:xfrm>
            <a:off x="685800" y="4892040"/>
            <a:ext cx="3650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19"/>
          <p:cNvSpPr/>
          <p:nvPr/>
        </p:nvSpPr>
        <p:spPr>
          <a:xfrm>
            <a:off x="1298520" y="4846320"/>
            <a:ext cx="30168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1E2A38"/>
                </a:solidFill>
                <a:effectLst/>
                <a:uFillTx/>
                <a:latin typeface="Cambria"/>
                <a:ea typeface="Cambria"/>
              </a:rPr>
              <a:t>Experience is a proxy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20"/>
          <p:cNvSpPr/>
          <p:nvPr/>
        </p:nvSpPr>
        <p:spPr>
          <a:xfrm>
            <a:off x="4434840" y="4846320"/>
            <a:ext cx="704016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Years worked does not capture seniority directly. Two people with ten years may be at different levels.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21"/>
          <p:cNvSpPr/>
          <p:nvPr/>
        </p:nvSpPr>
        <p:spPr>
          <a:xfrm>
            <a:off x="640080" y="5852160"/>
            <a:ext cx="108806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Full analysis, code and dashboard:  github.com/shramana-sanyal/india-uk-tech-market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Application>LibreOffice/26.2.6.3$Windows_X86_64 LibreOffice_project/8221e31b3ac356a1623c672912a3d2b492f7e3d1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2026-09-25T04:52:35Z</dcterms:created>
  <dc:creator>PptxGenJS</dc:creator>
  <dc:description/>
  <dc:language>en-US</dc:language>
  <cp:lastModifiedBy/>
  <dcterms:modified xsi:type="dcterms:W3CDTF">2026-09-25T10:41:38Z</dcterms:modified>
  <cp:revision>5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13</vt:i4>
  </property>
  <property fmtid="{D5CDD505-2E9C-101B-9397-08002B2CF9AE}" pid="3" name="PresentationFormat">
    <vt:lpwstr>On-screen Show (16:9)</vt:lpwstr>
  </property>
  <property fmtid="{D5CDD505-2E9C-101B-9397-08002B2CF9AE}" pid="4" name="Slides">
    <vt:i4>13</vt:i4>
  </property>
</Properties>
</file>